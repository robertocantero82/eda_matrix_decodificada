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audio" Target="../media/media-1-2.mp3"/><Relationship Id="rId3" Type="http://schemas.microsoft.com/office/2007/relationships/media" Target="../media/media-1-2.mp3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160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Análisis Exploratorio de Datos  ·  1999 – 2026</a:t>
            </a:r>
            <a:endParaRPr lang="en-US" sz="13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86800" y="4754880"/>
            <a:ext cx="36576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600" kern="0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ÍNDICE 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841248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07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06070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saga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0817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Animatrix + The Matrix + Reloaded + Revolutions — la historia más corta del apocalipsis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75104"/>
            <a:ext cx="8229600" cy="841248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75104"/>
            <a:ext cx="64008" cy="841248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299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02996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Descripción del EDA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37744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analiza, por qué y con qué datos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8229600" cy="841248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44368"/>
            <a:ext cx="64008" cy="841248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9923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Hipótesis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346704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Presupuestos &amp; VFX · H2 Cultura popular · H3 Calidad vs estructura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8229600" cy="841248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13632"/>
            <a:ext cx="64008" cy="841248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684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96849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31596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¿Y si los datos también eligen su propia verdad?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4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&gt; 01_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SAGA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Cómo la humanidad fue la arquitecta de su propia destrucción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CE87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The Matrix · Reloaded · Revolutions · Animatrix: El Segundo Renacimiento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⚙️  /* ANIMATRIX — EL SEGUNDO RENACIMIENTO I &amp; II */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111A13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I — La rebelión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humanidad crea robots para hacer el trabajo sucio. Los robots lo hacen demasiado bien. Los humanos los destruyen. Los robots se rebelan y fundan su propio país: 01. Se pide ayuda a los naciones del mundo. Nadie la da. Las máquinas atacan y vencen.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1005840"/>
          </a:xfrm>
          <a:prstGeom prst="rect">
            <a:avLst/>
          </a:prstGeom>
          <a:solidFill>
            <a:srgbClr val="111A13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II — El cielo oscuro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humanidad, en su infinita sabiduría, decide oscurecer el sol para cortar la energía de las máquinas. Las máquinas encuentran otra fuente de energía. Una más fiable. Inagotable. Los propios humanos.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8412480" cy="1600200"/>
          </a:xfrm>
          <a:prstGeom prst="rect">
            <a:avLst/>
          </a:prstGeom>
          <a:solidFill>
            <a:srgbClr val="1A0505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RESULTADO: La humanidad es cultivada como batería.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mundo real ya no existe. Solo existe Matrix.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moraleja: si construyes algo para que sufra, no te sorprendas cuando aprenda.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💊  /* THE MATRIX (1999) */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204829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207008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Thomas Anderson, alias Neo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Programador de día, hacker de noche. Recibe un mensaje: 'sigue al conejo blanco'. Lo sigue. Conoce a Morfeo. Morfeo le hace una pregunta que cambiará todo.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207008"/>
          </a:xfrm>
          <a:prstGeom prst="rect">
            <a:avLst/>
          </a:prstGeom>
          <a:solidFill>
            <a:srgbClr val="204829"/>
          </a:solidFill>
          <a:ln w="12700">
            <a:solidFill>
              <a:srgbClr val="80CE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1207008"/>
          </a:xfrm>
          <a:prstGeom prst="rect">
            <a:avLst/>
          </a:prstGeom>
          <a:solidFill>
            <a:srgbClr val="80CE87"/>
          </a:solidFill>
          <a:ln w="12700">
            <a:solidFill>
              <a:srgbClr val="80CE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134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0CE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píldora roja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6090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 elige la verdad. Despierta en un capullo de cultivo. Ve el cielo negro por primera vez. Ve miles de cápsulas humanas. Piensa: «igual tendría que haber elegido la azul». Spoiler: no.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207008"/>
          </a:xfrm>
          <a:prstGeom prst="rect">
            <a:avLst/>
          </a:prstGeom>
          <a:solidFill>
            <a:srgbClr val="204829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64008" cy="1207008"/>
          </a:xfrm>
          <a:prstGeom prst="rect">
            <a:avLst/>
          </a:prstGeom>
          <a:solidFill>
            <a:srgbClr val="92E5A1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93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Elegido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8678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 aprende que dentro de Matrix no hay límites si lo crees. Derrota al Agente Smith. Salva a Morfeo. Libera su mente. Llama por teléfono y anuncia que va a mostrar a la gente un mundo sin límites. Corte a negro. Créditos.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🔑  /* RELOADED &amp; REVOLUTIONS (2003) */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92E5A1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111A13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207008"/>
          </a:xfrm>
          <a:prstGeom prst="rect">
            <a:avLst/>
          </a:prstGeom>
          <a:solidFill>
            <a:srgbClr val="92E5A1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Reloaded — El libre albedrío era otra ilusión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 conoce al Arquitecto. El Arquitecto le explica que todo — incluso su rebelión — estaba programado. Neo es la sexta versión de El Elegido. El bucle lleva siglos repitiéndose. El libre albedrío era otra capa de la simulación.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207008"/>
          </a:xfrm>
          <a:prstGeom prst="rect">
            <a:avLst/>
          </a:prstGeom>
          <a:solidFill>
            <a:srgbClr val="111A13"/>
          </a:solidFill>
          <a:ln w="12700">
            <a:solidFill>
              <a:srgbClr val="80CE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1207008"/>
          </a:xfrm>
          <a:prstGeom prst="rect">
            <a:avLst/>
          </a:prstGeom>
          <a:solidFill>
            <a:srgbClr val="80CE87"/>
          </a:solidFill>
          <a:ln w="12700">
            <a:solidFill>
              <a:srgbClr val="80CE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134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0CE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Revolutions — El fin del bucle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6090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Smith se ha multiplicado como un virus y amenaza con destruir Matrix desde dentro. Neo y Smith se enfrentan en el combate definitivo bajo la lluvia de código. Se destruyen mutuamente. Las máquinas y los humanos firman una paz que nadie sabe cuánto durará.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207008"/>
          </a:xfrm>
          <a:prstGeom prst="rect">
            <a:avLst/>
          </a:prstGeom>
          <a:solidFill>
            <a:srgbClr val="0A0F0A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64008" cy="1207008"/>
          </a:xfrm>
          <a:prstGeom prst="rect">
            <a:avLst/>
          </a:prstGeom>
          <a:solidFill>
            <a:srgbClr val="204829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93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8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¿Fin?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8678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Oráculo mira el cielo al amanecer. Zion sobrevive. Matrix sigue funcionando. Algunos humanos son liberados. Pero el sistema... el sistema continúa. Morfeo tenía razón. Pero quizás no del todo.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04829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02_DESCRIPCIÓN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¿De qué va esto?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1999, The Matrix dividió al público entre quienes la vieron como puro entretenimiento y quienes vieron en ella algo mucho más profundo. Este EDA nace de esa batalla de audiencia. A través de los datos exploro si realmente revolucionó la ciencia ficción, si su temática trascendió la pantalla y si las secuelas fueron peores... o simplemente más difíciles de comprender.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1965960" cy="1783080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12724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TMDB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00507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5.000 películas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Presupuestos y créditos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3063240"/>
            <a:ext cx="1965960" cy="1783080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312724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Ngrams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400507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Millones de libros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papers científicos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1965960" cy="1783080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12724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400507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Vídeos, vistas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tendencias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3063240"/>
            <a:ext cx="1965960" cy="1783080"/>
          </a:xfrm>
          <a:prstGeom prst="rect">
            <a:avLst/>
          </a:prstGeom>
          <a:solidFill>
            <a:srgbClr val="111A13"/>
          </a:solidFill>
          <a:ln w="12700">
            <a:solidFill>
              <a:srgbClr val="2048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3127248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4005072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los guiones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04829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$ python · pandas · matplotlib · nltk · spacy · requests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04829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03_LAS TRES HIPÓTESIS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111A13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64008" cy="1051560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990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39903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💰🎞️  The Matrix revolucionó la Sci-Fi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0136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partir de 1999, los presupuestos y los equipos VFX del género crecieron de forma sostenida y medible.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8412480" cy="1051560"/>
          </a:xfrm>
          <a:prstGeom prst="rect">
            <a:avLst/>
          </a:prstGeom>
          <a:solidFill>
            <a:srgbClr val="111A13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96312"/>
            <a:ext cx="64008" cy="1051560"/>
          </a:xfrm>
          <a:prstGeom prst="rect">
            <a:avLst/>
          </a:prstGeom>
          <a:solidFill>
            <a:srgbClr val="92E5A1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9464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56946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🌐🧠  De la ficción a la cultura popular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71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saga consolidó la Teoría de la Simulación en libros, papers científicos y plataformas como YouTube.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412480" cy="1051560"/>
          </a:xfrm>
          <a:prstGeom prst="rect">
            <a:avLst/>
          </a:prstGeom>
          <a:solidFill>
            <a:srgbClr val="111A13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666744"/>
            <a:ext cx="64008" cy="105156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9896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9A9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373989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💔🎭  El declive: ¿calidad o incomprensión?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1422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público desconectó de las secuelas — no por calidad del guión, sino por la complejidad narrativa.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4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&gt; H1_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Matrix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revoluciono la Sci-Fi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CE87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Presupuestos · Especialistas VFX · Antes y después de 1999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Presupuesto medio de películas Sci-Fi (1977–2016)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millones de dólares corrientes · línea roja = estreno de The Matrix (1999)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Especialistas VFX en Sci-Fi (1977–2016)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media de profesionales por película · sin distorsión por inflación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Veredicto H1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204829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"Después de The Matrix, gastar más dinero en ciencia ficción se convirtió en la norma."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presupuestos Sci-Fi crecieron de forma consistente y sostenida post-1999.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número de especialistas VFX escala de ~3 de media antes de 1999 a +11 en 2015.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Contando personas, no dinero: sin distorsión por inflación — la tendencia es inequívoca.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convenció a la industria. La mejora tecnológica sostuvo esa apuesta con los años.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&gt; H2_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realidad como simulacion: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ficcion a la cultura popular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CE87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Google Ngrams · arXiv · YouTube API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Conceptos filosóficos en libros publicados (1980–2019)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frecuencia en millones de libros · inglés y español · línea punteada = 1999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868680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Visualizaciones YouTube sobre simulación &amp; filosofía (2011–2026)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inglés + español · hitos: Musk 2016, Resurrections 2021, ChatGPT 2022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Veredicto H2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A1A10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"Matrix no solo entretuvo — introdujo preguntas en el discurso escrito que antes prácticamente no existían."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Ngrams confirma el despegue de 'simulation theory' en libros justo a partir de 1999.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fenómeno es global: la curva en español sigue la misma tendencia que en inglés.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YouTube: de cifras residuales en 2011 a 192M de views en 2025 — pico histórico.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Musk (2016), ChatGPT (2022) amplifican un interés que Matrix encendió.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EF9A9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&gt; H3_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declive de la saga: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¿calidad o incomprension?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NLTK · spaCy · transcripciones de guión · IMDb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¿Quién habla más? Top 10 por líneas de diálogo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Matrix 1: 30 personajes · Matrix 2: 78 personajes · Matrix 3: 67 personajes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87552"/>
            <a:ext cx="886968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Complejidad del guión vs Valoración IMDb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nº personajes · riqueza léxica · puntuación del público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0584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personajes por película — vista detallada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Neo domina las tres — pero el reparto alrededor se multiplica en las secuelas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868680"/>
            <a:ext cx="36576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¿Quién pronuncia los grandes monólogos?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top 5 frases más largas · M1: Smith y Morfeo · M2: Merovingian y Arquitecto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868680"/>
            <a:ext cx="4023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Veredicto H3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1A0E0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"Las secuelas no eran peores. Eran más difíciles de comprender."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riqueza léxica es similar en las tres películas (~40%). El vocabulario no cayó.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sí cambió: 30 personajes en M1 → 78 en M2. El protagonismo se fragmentó.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M1 los monólogos más largos son de Smith y Morfeo. En M2: Merovingian y Arquitecto.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público desconectó de la complejidad estructural, no de la calidad de la escritura.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204829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04_CONCLUSIÓN FINAL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¿Y si los datos también eligen su propia verdad?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H1 [OK]  Revolución confirmada        H2 [OK]  Cultura popular conquistada        H3 [OK]  No fue calidad, fue estructura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¿Y si los datos también eligen su propia verdad?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1170432"/>
          </a:xfrm>
          <a:prstGeom prst="rect">
            <a:avLst/>
          </a:prstGeom>
          <a:solidFill>
            <a:srgbClr val="111A13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64008" cy="1170432"/>
          </a:xfrm>
          <a:prstGeom prst="rect">
            <a:avLst/>
          </a:prstGeom>
          <a:solidFill>
            <a:srgbClr val="22B455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941832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Matrix sí revolucionó el género. Presupuestos y equipos VFX crecieron sin pausa a partir de 1999. Neo tomó la píldora roja — y la industria, con él.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1170432"/>
          </a:xfrm>
          <a:prstGeom prst="rect">
            <a:avLst/>
          </a:prstGeom>
          <a:solidFill>
            <a:srgbClr val="111A13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48840"/>
            <a:ext cx="64008" cy="1170432"/>
          </a:xfrm>
          <a:prstGeom prst="rect">
            <a:avLst/>
          </a:prstGeom>
          <a:solidFill>
            <a:srgbClr val="92E5A1"/>
          </a:solidFill>
          <a:ln w="12700">
            <a:solidFill>
              <a:srgbClr val="92E5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221992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simulación salió de la pantalla. Ngrams, los papers y los 192M de views en YouTube en 2025 confirman que la pregunta de Morfeo sigue sin respuesta — y eso nos sigue fascinando.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8412480" cy="1170432"/>
          </a:xfrm>
          <a:prstGeom prst="rect">
            <a:avLst/>
          </a:prstGeom>
          <a:solidFill>
            <a:srgbClr val="111A13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429000"/>
            <a:ext cx="64008" cy="1170432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204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9A9A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H3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502152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secuelas no cayeron por mala escritura. Cayeron porque los grandes monólogos filosóficos dejaron de pertenecer a Neo, y 78 personajes no caben en la misma pantalla emocional que un hombre descubriendo que el mundo es una mentira.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B4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pregunta que Matrix dejó sin responder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2834640"/>
          </a:xfrm>
          <a:prstGeom prst="rect">
            <a:avLst/>
          </a:prstGeom>
          <a:solidFill>
            <a:srgbClr val="204829"/>
          </a:solidFill>
          <a:ln w="12700">
            <a:solidFill>
              <a:srgbClr val="22B4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1999, Morfeo le ofreció a Neo dos píldoras.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para seguir creyendo en la comodidad de lo conocido.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Otra para descubrir hasta dónde llega la madriguera del conejo.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 EDA ha elegido la segunda. Se ha deslizado hacia la verdad y nos demuestra que,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ciertos condicionantes, la película de 1999 nos sigue hablando en 2026.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no es que el cine de ciencia ficción fuese el mismo después de ella.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Tampoco la humanidad se olvidó de preguntarse qué es la realidad.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realidad, parece que quizás Morfeo tenía razón.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3840480"/>
            <a:ext cx="841248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Estos datos no van a responder si vivimos en una simulación.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Pero sí confirman que The Matrix nos hizo creer. En lo imposible. En lo increíble.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92E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algo que podríamos no saber jamás.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A06"/>
          </a:solidFill>
          <a:ln w="12700">
            <a:solidFill>
              <a:srgbClr val="050A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O QUIZAS...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...esto tambien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parte de la simulacion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6400800" cy="36576"/>
          </a:xfrm>
          <a:prstGeom prst="rect">
            <a:avLst/>
          </a:prstGeom>
          <a:solidFill>
            <a:srgbClr val="204829"/>
          </a:solidFill>
          <a:ln w="12700">
            <a:solidFill>
              <a:srgbClr val="2048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los datos confirman exactamente lo que queríamos demostrar...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¿los datos son reales, o también están programados para que lo creamos?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B455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// El Arquitecto sabe la respuesta. Nosotros, no.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37033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0" y="4480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E5A1"/>
                </a:solidFill>
                <a:latin typeface="Lucida Console" pitchFamily="34" charset="0"/>
                <a:ea typeface="Lucida Console" pitchFamily="34" charset="-122"/>
                <a:cs typeface="Lucida Console" pitchFamily="34" charset="-120"/>
              </a:rPr>
              <a:t>$ TMDB · Kaggle · Google Ngrams · arXiv · YouTube Data API v3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Matrix Decodificada</dc:title>
  <dc:subject>PptxGenJS Presentation</dc:subject>
  <dc:creator>PptxGenJS</dc:creator>
  <cp:lastModifiedBy>PptxGenJS</cp:lastModifiedBy>
  <cp:revision>1</cp:revision>
  <dcterms:created xsi:type="dcterms:W3CDTF">2026-05-13T10:53:41Z</dcterms:created>
  <dcterms:modified xsi:type="dcterms:W3CDTF">2026-05-13T10:53:41Z</dcterms:modified>
</cp:coreProperties>
</file>